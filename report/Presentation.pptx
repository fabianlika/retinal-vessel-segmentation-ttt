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Retinal Vessel Segmentation under Domain Shift</a:t>
            </a:r>
          </a:p>
          <a:p>
            <a:r>
              <a:rPr sz="2200">
                <a:solidFill>
                  <a:srgbClr val="9EC5E8"/>
                </a:solidFill>
              </a:rPr>
              <a:t>Label-Free Test-Time Adaptation for Cross-Dataset Generalisation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DDEE"/>
                </a:solidFill>
              </a:rPr>
              <a:t>MSc Artificial Intelligence — Computer Vision  |  Final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Motivation &amp;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100" b="0">
                <a:solidFill>
                  <a:srgbClr val="122A4A"/>
                </a:solidFill>
              </a:rPr>
              <a:t>•  Retinal vessel maps help diagnose diabetic retinopathy and glaucoma.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100" b="0">
                <a:solidFill>
                  <a:srgbClr val="122A4A"/>
                </a:solidFill>
              </a:rPr>
              <a:t>•  Models trained on one camera/dataset degrade on another → domain shift.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100" b="0">
                <a:solidFill>
                  <a:srgbClr val="122A4A"/>
                </a:solidFill>
              </a:rPr>
              <a:t>•  Goal: let the model adapt to each unseen image with NO labels.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100" b="1">
                <a:solidFill>
                  <a:srgbClr val="122A4A"/>
                </a:solidFill>
              </a:rPr>
              <a:t>•  Research question:</a:t>
            </a:r>
          </a:p>
          <a:p>
            <a:pPr lvl="1">
              <a:lnSpc>
                <a:spcPct val="108000"/>
              </a:lnSpc>
              <a:spcAft>
                <a:spcPts val="600"/>
              </a:spcAft>
            </a:pPr>
            <a:r>
              <a:rPr sz="1900" b="0">
                <a:solidFill>
                  <a:srgbClr val="555555"/>
                </a:solidFill>
              </a:rPr>
              <a:t>        –  Can rotation-based Test-Time Adaptation (TTT) close the gap?</a:t>
            </a:r>
          </a:p>
          <a:p>
            <a:pPr lvl="1">
              <a:lnSpc>
                <a:spcPct val="108000"/>
              </a:lnSpc>
              <a:spcAft>
                <a:spcPts val="600"/>
              </a:spcAft>
            </a:pPr>
            <a:r>
              <a:rPr sz="1900" b="0">
                <a:solidFill>
                  <a:srgbClr val="555555"/>
                </a:solidFill>
              </a:rPr>
              <a:t>        –  And what is the right amount of the network to adapt?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Datasets — Train on One, Test on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100" b="0">
                <a:solidFill>
                  <a:srgbClr val="122A4A"/>
                </a:solidFill>
              </a:rPr>
              <a:t>•  DRIVE (20 imgs) — training / source distribution.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100" b="0">
                <a:solidFill>
                  <a:srgbClr val="122A4A"/>
                </a:solidFill>
              </a:rPr>
              <a:t>•  STARE (20 imgs) — unseen, moderate shift.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100" b="0">
                <a:solidFill>
                  <a:srgbClr val="122A4A"/>
                </a:solidFill>
              </a:rPr>
              <a:t>•  CHASE_DB1 (28 imgs) — unseen, largest shift (darkest images).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100" b="0">
                <a:solidFill>
                  <a:srgbClr val="122A4A"/>
                </a:solidFill>
              </a:rPr>
              <a:t>•  HRF (45 imgs) — unseen, high-resolution, bright.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100" b="0">
                <a:solidFill>
                  <a:srgbClr val="122A4A"/>
                </a:solidFill>
              </a:rPr>
              <a:t>•  All public research datasets; model never sees the test sets in training.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Method — U-Net with Rotation 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100" b="0">
                <a:solidFill>
                  <a:srgbClr val="122A4A"/>
                </a:solidFill>
              </a:rPr>
              <a:t>•  U-Net encoder–decoder with skip connections segments vessels.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100" b="0">
                <a:solidFill>
                  <a:srgbClr val="122A4A"/>
                </a:solidFill>
              </a:rPr>
              <a:t>•  Auxiliary head predicts image rotation (0/90/180/270°) — self-supervised, no labels.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100" b="0">
                <a:solidFill>
                  <a:srgbClr val="122A4A"/>
                </a:solidFill>
              </a:rPr>
              <a:t>•  Trained jointly with augmentation:  Loss = (BCE + Dice) + λ · CE(rotation),  λ = 0.3.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100" b="0">
                <a:solidFill>
                  <a:srgbClr val="122A4A"/>
                </a:solidFill>
              </a:rPr>
              <a:t>•  Best DRIVE validation Dice ≈ 0.654 (60 epochs).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Test-Time Adaptation (TTT)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100" b="1">
                <a:solidFill>
                  <a:srgbClr val="122A4A"/>
                </a:solidFill>
              </a:rPr>
              <a:t>•  For each unlabelled test image:</a:t>
            </a:r>
          </a:p>
          <a:p>
            <a:pPr lvl="1">
              <a:lnSpc>
                <a:spcPct val="108000"/>
              </a:lnSpc>
              <a:spcAft>
                <a:spcPts val="600"/>
              </a:spcAft>
            </a:pPr>
            <a:r>
              <a:rPr sz="1900" b="0">
                <a:solidFill>
                  <a:srgbClr val="555555"/>
                </a:solidFill>
              </a:rPr>
              <a:t>        –  Make 4 rotated copies and predict their rotations.</a:t>
            </a:r>
          </a:p>
          <a:p>
            <a:pPr lvl="1">
              <a:lnSpc>
                <a:spcPct val="108000"/>
              </a:lnSpc>
              <a:spcAft>
                <a:spcPts val="600"/>
              </a:spcAft>
            </a:pPr>
            <a:r>
              <a:rPr sz="1900" b="0">
                <a:solidFill>
                  <a:srgbClr val="555555"/>
                </a:solidFill>
              </a:rPr>
              <a:t>        –  Back-propagate rotation loss → update BatchNorm params only.</a:t>
            </a:r>
          </a:p>
          <a:p>
            <a:pPr lvl="1">
              <a:lnSpc>
                <a:spcPct val="108000"/>
              </a:lnSpc>
              <a:spcAft>
                <a:spcPts val="600"/>
              </a:spcAft>
            </a:pPr>
            <a:r>
              <a:rPr sz="1900" b="0">
                <a:solidFill>
                  <a:srgbClr val="555555"/>
                </a:solidFill>
              </a:rPr>
              <a:t>        –  Segment with adapted weights, then restore originals.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100" b="0">
                <a:solidFill>
                  <a:srgbClr val="122A4A"/>
                </a:solidFill>
              </a:rPr>
              <a:t>•  Memory fix: per-rotation gradient accumulation (~4× less peak RAM).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100" b="0">
                <a:solidFill>
                  <a:srgbClr val="122A4A"/>
                </a:solidFill>
              </a:rPr>
              <a:t>•  Compared against TTA (8-view averaging) and CLAHE preprocessing.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Result 1 — Baseline vs TTT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6</a:t>
            </a:r>
          </a:p>
        </p:txBody>
      </p:sp>
      <p:pic>
        <p:nvPicPr>
          <p:cNvPr id="5" name="Picture 4" descr="di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51" y="1787392"/>
            <a:ext cx="11365992" cy="34203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8932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i="1">
                <a:solidFill>
                  <a:srgbClr val="122A4A"/>
                </a:solidFill>
              </a:rPr>
              <a:t>TTT improves Dice on all three datasets (STARE +0.020, CHASE +0.027, HRF +0.003).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Result 2 — TTA vs TTT &amp; Adaptation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7</a:t>
            </a:r>
          </a:p>
        </p:txBody>
      </p:sp>
      <p:pic>
        <p:nvPicPr>
          <p:cNvPr id="5" name="Picture 4" descr="ablation_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51" y="1535381"/>
            <a:ext cx="11365992" cy="39243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8932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i="1">
                <a:solidFill>
                  <a:srgbClr val="122A4A"/>
                </a:solidFill>
              </a:rPr>
              <a:t>TTT-BN beats TTA on STARE &amp; CHASE; BatchNorm-only ≥ encoder = full network.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Result 3 — Domain Gap Across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8</a:t>
            </a:r>
          </a:p>
        </p:txBody>
      </p:sp>
      <p:pic>
        <p:nvPicPr>
          <p:cNvPr id="5" name="Picture 4" descr="domain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408" y="1234440"/>
            <a:ext cx="6576879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8932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i="1">
                <a:solidFill>
                  <a:srgbClr val="122A4A"/>
                </a:solidFill>
              </a:rPr>
              <a:t>CHASE is the darkest, most-shifted set — and the hardest to segment.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Result 4 — CLAHE Intensity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9</a:t>
            </a:r>
          </a:p>
        </p:txBody>
      </p:sp>
      <p:pic>
        <p:nvPicPr>
          <p:cNvPr id="5" name="Picture 4" descr="intensity_corr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51" y="1461576"/>
            <a:ext cx="11365992" cy="40720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8932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i="1">
                <a:solidFill>
                  <a:srgbClr val="122A4A"/>
                </a:solidFill>
              </a:rPr>
              <a:t>CLAHE raises sensitivity but collapses specificity → lower Dice; TTT is the better lever.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Qualitative — CHASE Predictions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10</a:t>
            </a:r>
          </a:p>
        </p:txBody>
      </p:sp>
      <p:pic>
        <p:nvPicPr>
          <p:cNvPr id="5" name="Picture 4" descr="chase_predi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516" y="1234440"/>
            <a:ext cx="5876662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8932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i="1">
                <a:solidFill>
                  <a:srgbClr val="122A4A"/>
                </a:solidFill>
              </a:rPr>
              <a:t>On the hardest dataset, the model recovers the vessel tree and TTT adds fine branches.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100" b="0">
                <a:solidFill>
                  <a:srgbClr val="122A4A"/>
                </a:solidFill>
              </a:rPr>
              <a:t>•  Rotation-based TTT improves Dice on all three unseen datasets — label-free.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100" b="0">
                <a:solidFill>
                  <a:srgbClr val="122A4A"/>
                </a:solidFill>
              </a:rPr>
              <a:t>•  TTT-BN beats the TTA ensemble on the two largest domain shifts (STARE, CHASE).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100" b="0">
                <a:solidFill>
                  <a:srgbClr val="122A4A"/>
                </a:solidFill>
              </a:rPr>
              <a:t>•  Adapt BatchNorm only: encoder and full-network adaptation add nothing.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100" b="0">
                <a:solidFill>
                  <a:srgbClr val="122A4A"/>
                </a:solidFill>
              </a:rPr>
              <a:t>•  CLAHE trades specificity for sensitivity → lower Dice; adaptation is preferable.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100" b="1">
                <a:solidFill>
                  <a:srgbClr val="122A4A"/>
                </a:solidFill>
              </a:rPr>
              <a:t>•  Takeaway:</a:t>
            </a:r>
          </a:p>
          <a:p>
            <a:pPr lvl="1">
              <a:lnSpc>
                <a:spcPct val="108000"/>
              </a:lnSpc>
              <a:spcAft>
                <a:spcPts val="600"/>
              </a:spcAft>
            </a:pPr>
            <a:r>
              <a:rPr sz="1900" b="0">
                <a:solidFill>
                  <a:srgbClr val="555555"/>
                </a:solidFill>
              </a:rPr>
              <a:t>        –  A lightweight BatchNorm-only adaptation is an effective, cheap robustness tool.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100" b="0">
                <a:solidFill>
                  <a:srgbClr val="122A4A"/>
                </a:solidFill>
              </a:rPr>
              <a:t>•  Only 20 DRIVE training images → limited absolute accuracy.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100" b="0">
                <a:solidFill>
                  <a:srgbClr val="122A4A"/>
                </a:solidFill>
              </a:rPr>
              <a:t>•  Rotation auxiliary task is simple; richer self-supervision could help more.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100" b="0">
                <a:solidFill>
                  <a:srgbClr val="122A4A"/>
                </a:solidFill>
              </a:rPr>
              <a:t>•  Per-image TTT adds inference-time computation.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100" b="0">
                <a:solidFill>
                  <a:srgbClr val="122A4A"/>
                </a:solidFill>
              </a:rPr>
              <a:t>•  Small test sets — statistical significance testing would strengthen claims.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100" b="0">
                <a:solidFill>
                  <a:srgbClr val="122A4A"/>
                </a:solidFill>
              </a:rPr>
              <a:t>•  BatchNorm-only TTT is an effective, label-free route to cross-dataset robustness.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100" b="0">
                <a:solidFill>
                  <a:srgbClr val="122A4A"/>
                </a:solidFill>
              </a:rPr>
              <a:t>•  It beats both TTA ensembling and CLAHE intensity correction.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100" b="0">
                <a:solidFill>
                  <a:srgbClr val="122A4A"/>
                </a:solidFill>
              </a:rPr>
              <a:t>•  Future: stronger self-supervision, learned domain normalisation, multi-centre validation.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Thank You</a:t>
            </a:r>
          </a:p>
          <a:p>
            <a:r>
              <a:rPr sz="2200">
                <a:solidFill>
                  <a:srgbClr val="9EC5E8"/>
                </a:solidFill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DDEE"/>
                </a:solidFill>
              </a:rPr>
              <a:t>Retinal Vessel Segmentation under Domain Shift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